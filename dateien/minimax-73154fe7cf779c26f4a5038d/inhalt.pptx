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wordpress.com/2026/10/26/dachstuhl-berlin-ursache-klaeren-vor-reparatur/" TargetMode="External"/><Relationship Id="rId3" Type="http://schemas.openxmlformats.org/officeDocument/2006/relationships/hyperlink" Target="https://holzundhaus.github.io/dachwerkberlin/dateien/minimax-73154fe7cf779c26f4a5038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in Berlin: Erst die Ursache klären, dann reparieren · Erklärende Präsentation</a:t>
            </a:r>
          </a:p>
        </p:txBody>
      </p:sp>
      <p:sp>
        <p:nvSpPr>
          <p:cNvPr id="3" name="Content Placeholder 2"/>
          <p:cNvSpPr>
            <a:spLocks noGrp="1"/>
          </p:cNvSpPr>
          <p:nvPr>
            <p:ph idx="1"/>
          </p:nvPr>
        </p:nvSpPr>
        <p:spPr/>
        <p:txBody>
          <a:bodyPr/>
          <a:lstStyle/>
          <a:p>
            <a:r>
              <a:t>Überblick: Bei einem sichtbaren Schaden am Dachstuhl reicht der Befund an der Oberfläche selten aus, um die passende Maßnahme festzulegen. Feuchte kann über Anschlüsse, Unterdeckung, Entwässerung oder angrenzende Bauteile in das Holz gelangt sein. Ein hilfreicher Ratgeber zur Vorbereitung der Ursachenanalyse zeigt, welche Angaben, Unterlagen und Beobachtungen dabei helfen, den tatsächlichen Wasserweg einzugrenzen und Reparaturen sinnvoll zu 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sichtbare Schaden ist nicht automatisch die Ursache</a:t>
            </a:r>
          </a:p>
        </p:txBody>
      </p:sp>
      <p:sp>
        <p:nvSpPr>
          <p:cNvPr id="3" name="Content Placeholder 2"/>
          <p:cNvSpPr>
            <a:spLocks noGrp="1"/>
          </p:cNvSpPr>
          <p:nvPr>
            <p:ph idx="1"/>
          </p:nvPr>
        </p:nvSpPr>
        <p:spPr/>
        <p:txBody>
          <a:bodyPr/>
          <a:lstStyle/>
          <a:p>
            <a:pPr>
              <a:defRPr sz="1800"/>
            </a:pPr>
            <a:r>
              <a:t>Zwischen der Stelle, an der Feuchte oder ein Holzschaden sichtbar wird, und dem ursprünglichen Eintritt des Wassers können mehrere Schichten liegen. Eine Messung an der betroffenen Stelle beschreibt daher vor allem den aktuellen Zustand. Sie beantwortet nicht automatisch die Frage, woher das Wasser kommt und ob dieser Weg noch besteht. Besonders wichtig ist die Einbeziehung von Dachfenstern, Gauben, Schornstein, Unterdeckung, Unterdach, Traufe und Notüberlauf. Auch Kondensat oder Feuchte aus angrenzenden Bauteilen können berücksichtigt werden. Für die weitere Einordnung helfen die Hinweise zur systematischen Ursachenanalyse am Berliner Dachst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sichtbare Schaden ist nicht automatisch die Ursache</a:t>
            </a:r>
          </a:p>
        </p:txBody>
      </p:sp>
      <p:sp>
        <p:nvSpPr>
          <p:cNvPr id="3" name="Content Placeholder 2"/>
          <p:cNvSpPr>
            <a:spLocks noGrp="1"/>
          </p:cNvSpPr>
          <p:nvPr>
            <p:ph idx="1"/>
          </p:nvPr>
        </p:nvSpPr>
        <p:spPr/>
        <p:txBody>
          <a:bodyPr/>
          <a:lstStyle/>
          <a:p>
            <a:pPr>
              <a:defRPr sz="1800"/>
            </a:pPr>
            <a:r>
              <a:t>uhl.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Dachraum und Konstruktion gemeinsam betrachten</a:t>
            </a:r>
          </a:p>
        </p:txBody>
      </p:sp>
      <p:sp>
        <p:nvSpPr>
          <p:cNvPr id="3" name="Content Placeholder 2"/>
          <p:cNvSpPr>
            <a:spLocks noGrp="1"/>
          </p:cNvSpPr>
          <p:nvPr>
            <p:ph idx="1"/>
          </p:nvPr>
        </p:nvSpPr>
        <p:spPr/>
        <p:txBody>
          <a:bodyPr/>
          <a:lstStyle/>
          <a:p>
            <a:pPr>
              <a:defRPr sz="1800"/>
            </a:pPr>
            <a:r>
              <a:t>Ein Bauteil kann äußerlich unauffällig wirken, während Holzsubstanz oder Verbindungen bereits beeinträchtigt sind. Deshalb sollte die Beurteilung nicht beim sichtbaren Fleck enden. Relevant sind auch Feuchte, Geruch, Verformungen sowie die Funktion der betroffenen Verbindung, etwa Zapfen, Versätze oder Nagelreihen. Die Tragfähigkeit ist getrennt vom äußeren Zustand zu bewerten. Wenn Umbauten, eine neue Nutzung des Dachraums oder zusätzliche Lasten geplant sind, verändert sich die Beanspruchung der vorhandenen Konstruktion. Eingriffe in tragende Bauteile gehören deshalb in Abstimmung mit der erforderlichen statischen Planung. Die weitere Übers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Dachraum und Konstruktion gemeinsam betrachten</a:t>
            </a:r>
          </a:p>
        </p:txBody>
      </p:sp>
      <p:sp>
        <p:nvSpPr>
          <p:cNvPr id="3" name="Content Placeholder 2"/>
          <p:cNvSpPr>
            <a:spLocks noGrp="1"/>
          </p:cNvSpPr>
          <p:nvPr>
            <p:ph idx="1"/>
          </p:nvPr>
        </p:nvSpPr>
        <p:spPr/>
        <p:txBody>
          <a:bodyPr/>
          <a:lstStyle/>
          <a:p>
            <a:pPr>
              <a:defRPr sz="1800"/>
            </a:pPr>
            <a:r>
              <a:t>icht zur Prüfung von Schadensbild und Tragfähigkeit bietet dafür eine praktische Grundlage.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die Anfrage strukturiert sammeln</a:t>
            </a:r>
          </a:p>
        </p:txBody>
      </p:sp>
      <p:sp>
        <p:nvSpPr>
          <p:cNvPr id="3" name="Content Placeholder 2"/>
          <p:cNvSpPr>
            <a:spLocks noGrp="1"/>
          </p:cNvSpPr>
          <p:nvPr>
            <p:ph idx="1"/>
          </p:nvPr>
        </p:nvSpPr>
        <p:spPr/>
        <p:txBody>
          <a:bodyPr/>
          <a:lstStyle/>
          <a:p>
            <a:pPr>
              <a:defRPr sz="1800"/>
            </a:pPr>
            <a:r>
              <a:t>Eine gute Anfrage beginnt vor dem handwerklichen Einsatz und beschreibt nicht nur das sichtbare Schadenbild. Hilfreich sind der Ort, die Ausdehnung und der Zeitpunkt des Schadens sowie bekannte frühere Reparaturen, Umbauten oder Nutzungsänderungen. Vorhandene Baupläne, Schnitte und Fotos können die Orientierung erleichtern. Im Dachraum sollten Hinweise zu Feuchte, Geruch und Verformungen festgehalten werden. Außerdem wichtig sind geplante Arbeiten an der Dämmung, Eindeckung, Gaube oder Photovoltaik, weil sie die Bedingungen am Dach verändern können. Fotos aus sicherer Position und nachvollziehbare Angaben helfen, Rückfragen zu verringern und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die Anfrage strukturiert sammeln</a:t>
            </a:r>
          </a:p>
        </p:txBody>
      </p:sp>
      <p:sp>
        <p:nvSpPr>
          <p:cNvPr id="3" name="Content Placeholder 2"/>
          <p:cNvSpPr>
            <a:spLocks noGrp="1"/>
          </p:cNvSpPr>
          <p:nvPr>
            <p:ph idx="1"/>
          </p:nvPr>
        </p:nvSpPr>
        <p:spPr/>
        <p:txBody>
          <a:bodyPr/>
          <a:lstStyle/>
          <a:p>
            <a:pPr>
              <a:defRPr sz="1800"/>
            </a:pPr>
            <a:r>
              <a:t>den Befund als Grundlage für die Ursachenanalyse nutzbar zu machen.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Reparaturentscheidung anhand von Ursache und Funktion</a:t>
            </a:r>
          </a:p>
        </p:txBody>
      </p:sp>
      <p:sp>
        <p:nvSpPr>
          <p:cNvPr id="3" name="Content Placeholder 2"/>
          <p:cNvSpPr>
            <a:spLocks noGrp="1"/>
          </p:cNvSpPr>
          <p:nvPr>
            <p:ph idx="1"/>
          </p:nvPr>
        </p:nvSpPr>
        <p:spPr/>
        <p:txBody>
          <a:bodyPr/>
          <a:lstStyle/>
          <a:p>
            <a:pPr>
              <a:defRPr sz="1800"/>
            </a:pPr>
            <a:r>
              <a:t>Nach der Ursachenanalyse lässt sich unterscheiden, welche Maßnahme sinnvoll ist. Bei lokal begrenzter Feuchte kann eine Teilreparatur genügen, wenn der Wasserweg einmalig war und nachweislich behoben wurde. Ist die Holzsubstanz oder eine Verbindung so geschädigt, dass die ursprüngliche Funktion nicht mehr zuverlässig erfüllt wird, kann ein Austausch erforderlich sein. Eine Verstärkung ist vor allem dann Thema, wenn das Bauteil noch tragfähig ist, die geplante Nutzung oder zusätzliche Lasten die Konstruktion jedoch an ihre Grenzen bringen. Wichtig bleibt, dass die Maßnahme zum Wasserweg passt. Ein Austausch allein sichert kein Bauteil dauerhaf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Reparaturentscheidung anhand von Ursache und Funktion</a:t>
            </a:r>
          </a:p>
        </p:txBody>
      </p:sp>
      <p:sp>
        <p:nvSpPr>
          <p:cNvPr id="3" name="Content Placeholder 2"/>
          <p:cNvSpPr>
            <a:spLocks noGrp="1"/>
          </p:cNvSpPr>
          <p:nvPr>
            <p:ph idx="1"/>
          </p:nvPr>
        </p:nvSpPr>
        <p:spPr/>
        <p:txBody>
          <a:bodyPr/>
          <a:lstStyle/>
          <a:p>
            <a:pPr>
              <a:defRPr sz="1800"/>
            </a:pPr>
            <a:r>
              <a:t>t, wenn es weiterhin Feuchte ausgesetzt bleibt.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in Berlin: Erst die Ursache klären, dann reparieren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