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wordpress.com/2026/10/31/dachdaemmung-bestand-feuchteschutz-luftdichtheit-pruefen/" TargetMode="External"/><Relationship Id="rId3" Type="http://schemas.openxmlformats.org/officeDocument/2006/relationships/hyperlink" Target="https://holzundhaus.github.io/dachwerkberlin/dateien/minimax-122c23ec531a132adb29028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Dachdämmung im Bestand: Feuchteschutz und Luftdichtheit vor der Maßnahme prüfen · Erklärende Präsentation</a:t>
            </a:r>
          </a:p>
        </p:txBody>
      </p:sp>
      <p:sp>
        <p:nvSpPr>
          <p:cNvPr id="3" name="Content Placeholder 2"/>
          <p:cNvSpPr>
            <a:spLocks noGrp="1"/>
          </p:cNvSpPr>
          <p:nvPr>
            <p:ph idx="1"/>
          </p:nvPr>
        </p:nvSpPr>
        <p:spPr/>
        <p:txBody>
          <a:bodyPr/>
          <a:lstStyle/>
          <a:p>
            <a:r>
              <a:t>Überblick: Bei einer nachträglichen Dachdämmung im Berliner Bestand reicht die Auswahl einer Dämmstoffstärke nicht aus. Feuchteschutz, Luftdichtheit und die Ausführung von Anschlüssen müssen vor der Maßnahme gemeinsam geprüft werden. Dieser Leitfaden strukturiert die Vorprüfung, damit versteckte Feuchte, undichte Übergänge und Wärmebrücken nicht erst nach Beginn der Arbeiten sichtbar werden. Die [Dachdämmung in Berlin](https://www.dachwerkberlin.de/dachdaemmung-berlin/) sollte dabei auf den tatsächlichen Bestand und die geplante Nutzung abgestimmt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im Bestand zuerst einordnen</a:t>
            </a:r>
          </a:p>
        </p:txBody>
      </p:sp>
      <p:sp>
        <p:nvSpPr>
          <p:cNvPr id="3" name="Content Placeholder 2"/>
          <p:cNvSpPr>
            <a:spLocks noGrp="1"/>
          </p:cNvSpPr>
          <p:nvPr>
            <p:ph idx="1"/>
          </p:nvPr>
        </p:nvSpPr>
        <p:spPr/>
        <p:txBody>
          <a:bodyPr/>
          <a:lstStyle/>
          <a:p>
            <a:pPr>
              <a:defRPr sz="1800"/>
            </a:pPr>
            <a:r>
              <a:t>Feuchte lässt sich nicht einfach dadurch lösen, dass sie unter einer neuen Dämmschicht verschwindet. Eine zusätzliche Dämmung kann den Feuchtegehalt im Bauteil verändern und Tauwasser in bisher unauffällige Bereiche verlagern. Entscheidend ist deshalb, dass der gewählte Aufbau nach der Maßnahme zum vorgesehenen Feuchteschutz passt.</a:t>
            </a:r>
          </a:p>
          <a:p>
            <a:pPr>
              <a:defRPr sz="1800"/>
            </a:pPr>
          </a:p>
          <a:p>
            <a:pPr>
              <a:defRPr sz="1800"/>
            </a:pPr>
            <a:r>
              <a:t>Zur Bestandsaufnahme gehören sichtbare Feuchtebefunde, Verfärbungen und Wasserspuren an Holzbauteilen oder Innenverkleidungen. Ebenso wichtig sind bekannte frühere Leckagen, Estrichtrocknungen und nachträglich verlegte Leitungen. Wenn vorhandene Schichten und ihre Reihenfolge zugänglich sind, sollten sie dokumenti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im Bestand zuerst einordnen</a:t>
            </a:r>
          </a:p>
        </p:txBody>
      </p:sp>
      <p:sp>
        <p:nvSpPr>
          <p:cNvPr id="3" name="Content Placeholder 2"/>
          <p:cNvSpPr>
            <a:spLocks noGrp="1"/>
          </p:cNvSpPr>
          <p:nvPr>
            <p:ph idx="1"/>
          </p:nvPr>
        </p:nvSpPr>
        <p:spPr/>
        <p:txBody>
          <a:bodyPr/>
          <a:lstStyle/>
          <a:p>
            <a:pPr>
              <a:defRPr sz="1800"/>
            </a:pPr>
            <a:r>
              <a:t>ert werden. Auch eine geänderte Nutzung, etwa ein unbeheizter Speicher, der später bewohnt wird, kann das Raumklima und damit die Anforderungen an den Dachaufbau beeinflussen. Ohne diese Einordnung lässt sich kein passender Aufbau auswählen.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ist eine eigene Ebene</a:t>
            </a:r>
          </a:p>
        </p:txBody>
      </p:sp>
      <p:sp>
        <p:nvSpPr>
          <p:cNvPr id="3" name="Content Placeholder 2"/>
          <p:cNvSpPr>
            <a:spLocks noGrp="1"/>
          </p:cNvSpPr>
          <p:nvPr>
            <p:ph idx="1"/>
          </p:nvPr>
        </p:nvSpPr>
        <p:spPr/>
        <p:txBody>
          <a:bodyPr/>
          <a:lstStyle/>
          <a:p>
            <a:pPr>
              <a:defRPr sz="1800"/>
            </a:pPr>
            <a:r>
              <a:t>Wärmeschutz und Luftdichtheit erfüllen unterschiedliche Aufgaben. Eine durchgehende Dämmung allein verhindert nicht, dass feuchte Raumluft über Fugen in die Konstruktion gelangt. Eine Dampfbremse kann den Feuchtetransport durch die Konstruktion begrenzen und Teil der Luftdichtheitsebene sein. Sie muss jedoch durchgängig an Wände, Fenster, Gauben, Schornsteine und Leitungsdurchführungen angeschlossen werden.</a:t>
            </a:r>
          </a:p>
          <a:p>
            <a:pPr>
              <a:defRPr sz="1800"/>
            </a:pPr>
          </a:p>
          <a:p>
            <a:pPr>
              <a:defRPr sz="1800"/>
            </a:pPr>
            <a:r>
              <a:t>Besonders aufmerksam geprüft werden sollten Fugen, Durchdringungen und Fensteranschlüsse. Wenn eine dieser Ebenen nicht passend ausgeführt wird, wirkt die Dämmung im Bauteil anders als geplant. Im Bestand werden solche Schwachstellen häuf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ist eine eigene Ebene</a:t>
            </a:r>
          </a:p>
        </p:txBody>
      </p:sp>
      <p:sp>
        <p:nvSpPr>
          <p:cNvPr id="3" name="Content Placeholder 2"/>
          <p:cNvSpPr>
            <a:spLocks noGrp="1"/>
          </p:cNvSpPr>
          <p:nvPr>
            <p:ph idx="1"/>
          </p:nvPr>
        </p:nvSpPr>
        <p:spPr/>
        <p:txBody>
          <a:bodyPr/>
          <a:lstStyle/>
          <a:p>
            <a:pPr>
              <a:defRPr sz="1800"/>
            </a:pPr>
            <a:r>
              <a:t>ig erst sichtbar, wenn ohnehin Sanierungsarbeiten anstehen. Die Anschlussplanung gehört daher bereits in die Vorprüfung und nicht erst in die Ausführung.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und Anschlüsse mitdenken</a:t>
            </a:r>
          </a:p>
        </p:txBody>
      </p:sp>
      <p:sp>
        <p:nvSpPr>
          <p:cNvPr id="3" name="Content Placeholder 2"/>
          <p:cNvSpPr>
            <a:spLocks noGrp="1"/>
          </p:cNvSpPr>
          <p:nvPr>
            <p:ph idx="1"/>
          </p:nvPr>
        </p:nvSpPr>
        <p:spPr/>
        <p:txBody>
          <a:bodyPr/>
          <a:lstStyle/>
          <a:p>
            <a:pPr>
              <a:defRPr sz="1800"/>
            </a:pPr>
            <a:r>
              <a:t>Wärmebrücken entstehen dort, wo der Wärmeschutz unterbrochen oder geschwächt wird. An aufgehenden Bauteilen, im Bereich von Dachflächenfenstern oder an der Traufe treffen mehrere Materialien und Ebenen aufeinander. Eine neue Dämmung verändert die Lage dieser Übergänge. Deshalb muss bei der Planung geklärt werden, wie die einzelnen Ebenen aneinander anschließen.</a:t>
            </a:r>
          </a:p>
          <a:p>
            <a:pPr>
              <a:defRPr sz="1800"/>
            </a:pPr>
          </a:p>
          <a:p>
            <a:pPr>
              <a:defRPr sz="1800"/>
            </a:pPr>
            <a:r>
              <a:t>Auch die Frage, ob die Deckung ohnehin erneuert wird, beeinflusst die sinnvolle Ausführung. Eine pauschale Dämmstärke nach Produktname ersetzt diese Prüfung nicht. Entscheidend sind der vorhandene Aufbau, die zugänglichen Anschlussbereiche und die geplante Nutzung des Dachraums.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Anfrage relevante Angaben sammeln</a:t>
            </a:r>
          </a:p>
        </p:txBody>
      </p:sp>
      <p:sp>
        <p:nvSpPr>
          <p:cNvPr id="3" name="Content Placeholder 2"/>
          <p:cNvSpPr>
            <a:spLocks noGrp="1"/>
          </p:cNvSpPr>
          <p:nvPr>
            <p:ph idx="1"/>
          </p:nvPr>
        </p:nvSpPr>
        <p:spPr/>
        <p:txBody>
          <a:bodyPr/>
          <a:lstStyle/>
          <a:p>
            <a:pPr>
              <a:defRPr sz="1800"/>
            </a:pPr>
            <a:r>
              <a:t>Für die fachliche Einordnung helfen Angaben zur aktuellen und geplanten Nutzung des Dachraums sowie zu bereits vorhandenen Dämmungen. Feuchtebefunde, sichtbare Anschlüsse, Fenster und Durchdringungen sollten möglichst konkret beschrieben werden. Auch frühere Umbauten am Dach können wichtig sein, weil sie den Aufbau und die Ausführung verändert haben.</a:t>
            </a:r>
          </a:p>
          <a:p>
            <a:pPr>
              <a:defRPr sz="1800"/>
            </a:pPr>
          </a:p>
          <a:p>
            <a:pPr>
              <a:defRPr sz="1800"/>
            </a:pPr>
            <a:r>
              <a:t>Wer ein Vorhaben über die [Berliner Dachdämmung](https://www.dachwerkberlin.de/dachdaemmung-berlin/) einreicht, ergänzt diese Informationen am besten direkt im Freitext. So können Dachzustand, Nutzung und Umfang gemeinsam eingeordnet werden. Eine mögliche Förderung energetischer Dacharbeiten sol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Anfrage relevante Angaben sammeln</a:t>
            </a:r>
          </a:p>
        </p:txBody>
      </p:sp>
      <p:sp>
        <p:nvSpPr>
          <p:cNvPr id="3" name="Content Placeholder 2"/>
          <p:cNvSpPr>
            <a:spLocks noGrp="1"/>
          </p:cNvSpPr>
          <p:nvPr>
            <p:ph idx="1"/>
          </p:nvPr>
        </p:nvSpPr>
        <p:spPr/>
        <p:txBody>
          <a:bodyPr/>
          <a:lstStyle/>
          <a:p>
            <a:pPr>
              <a:defRPr sz="1800"/>
            </a:pPr>
            <a:r>
              <a:t>lte vor der verbindlichen Projektumsetzung geprüft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Weiterführende Fachinformationen</a:t>
            </a:r>
          </a:p>
        </p:txBody>
      </p:sp>
      <p:sp>
        <p:nvSpPr>
          <p:cNvPr id="3" name="Content Placeholder 2"/>
          <p:cNvSpPr>
            <a:spLocks noGrp="1"/>
          </p:cNvSpPr>
          <p:nvPr>
            <p:ph idx="1"/>
          </p:nvPr>
        </p:nvSpPr>
        <p:spPr/>
        <p:txBody>
          <a:bodyPr/>
          <a:lstStyle/>
          <a:p>
            <a:pPr>
              <a:defRPr sz="1800"/>
            </a:pPr>
            <a:r>
              <a:t>Für vertiefende Informationen können ergänzende Quellen zu Förderprogrammen, Dachsystemen und Bauwerksabdichtung herangezogen werden. Der passende Beitrag zur [Dachdämmung im Bestand](https://dachwerkberlin.wordpress.com/2026/10/31/dachdaemmung-bestand-feuchteschutz-luftdichtheit-pruefen/) erläutert die Zusammenführung von Wärmeschutz, Feuchteschutz und Luftdichtheit nochmals im Zusammenhang. Die Quellen ersetzen nicht die Prüfung des konkreten Gebäudes, unterstützen aber bei der Vorbereitung einer fachlich nachvollziehbaren Anfrage.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Dachdämmung im Bestand: Feuchteschutz und Luftdichtheit vor der Maßnahme prüfen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