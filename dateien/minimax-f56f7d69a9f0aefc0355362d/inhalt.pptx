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blogspot.com/2026/10/dachterrasse-berlin-aufbau-unter-dem.html" TargetMode="External"/><Relationship Id="rId3" Type="http://schemas.openxmlformats.org/officeDocument/2006/relationships/hyperlink" Target="https://holzundhaus.github.io/dachwerkberlin/dateien/minimax-f56f7d69a9f0aefc0355362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Dachterrasse Berlin: Aufbau unter dem Belag · Erklärende Präsentation</a:t>
            </a:r>
          </a:p>
        </p:txBody>
      </p:sp>
      <p:sp>
        <p:nvSpPr>
          <p:cNvPr id="3" name="Content Placeholder 2"/>
          <p:cNvSpPr>
            <a:spLocks noGrp="1"/>
          </p:cNvSpPr>
          <p:nvPr>
            <p:ph idx="1"/>
          </p:nvPr>
        </p:nvSpPr>
        <p:spPr/>
        <p:txBody>
          <a:bodyPr/>
          <a:lstStyle/>
          <a:p>
            <a:r>
              <a:t>Überblick: Wer eine Dachterrasse in Berlin plant, denkt oft zuerst an Belag, Möbel und Nutzung. Entscheidend ist jedoch der Aufbau unter der sichtbaren Oberfläche: Tragwerk, Abdichtung, Schutzschicht, Entwässerung und Anschlüsse müssen zusammenpassen. Dieser Leitfaden ordnet die wichtigsten Prüfschritte in der Reihenfolge eines Dachterrassenaufbaus. Er ergänzt die Grundlagen zum Dachterrasse-Aufbau unter dem Belag und hilft, Fehler bereits vor der Ausführung zu erkennen. Besonders klar wird, warum Tragfähigkeit, Dachhaut, Wasserführung und Zugang nicht getrennt betrachtet werden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Bestand beginnen, nicht mit dem Belag</a:t>
            </a:r>
          </a:p>
        </p:txBody>
      </p:sp>
      <p:sp>
        <p:nvSpPr>
          <p:cNvPr id="3" name="Content Placeholder 2"/>
          <p:cNvSpPr>
            <a:spLocks noGrp="1"/>
          </p:cNvSpPr>
          <p:nvPr>
            <p:ph idx="1"/>
          </p:nvPr>
        </p:nvSpPr>
        <p:spPr/>
        <p:txBody>
          <a:bodyPr/>
          <a:lstStyle/>
          <a:p>
            <a:pPr>
              <a:defRPr sz="1800"/>
            </a:pPr>
            <a:r>
              <a:t>Der erste Schritt ist eine Bestandsaufnahme der Dachfläche. Dazu gehören die vorhandene Konstruktion, ihre Tragfähigkeit sowie die verfügbaren Aufbauhöhen. Personen, Möbel, Pflanzkübel und Schneelasten belasten eine bislang ungenutzte Fläche zusätzlich. Ohne diese Prüfung bleibt offen, ob die geplante Nutzung überhaupt möglich ist und wie viel Raum für Schutz- und Drainagelagen bleibt. Auch der Zustand der Abdichtung muss bekannt sein, besonders an Anschlüssen und aufgehenden Bauteilen. Ein neuer Belag verbessert nicht automatisch die Funktion der darunterliegenden Schichten. Hilfreich ist eine einfache Prüfliste: Welche Flächen sind bereits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Bestand beginnen, nicht mit dem Belag</a:t>
            </a:r>
          </a:p>
        </p:txBody>
      </p:sp>
      <p:sp>
        <p:nvSpPr>
          <p:cNvPr id="3" name="Content Placeholder 2"/>
          <p:cNvSpPr>
            <a:spLocks noGrp="1"/>
          </p:cNvSpPr>
          <p:nvPr>
            <p:ph idx="1"/>
          </p:nvPr>
        </p:nvSpPr>
        <p:spPr/>
        <p:txBody>
          <a:bodyPr/>
          <a:lstStyle/>
          <a:p>
            <a:pPr>
              <a:defRPr sz="1800"/>
            </a:pPr>
            <a:r>
              <a:t>wasserführend? Wo liegt der niedrigste Punkt? Welche Höhen stehen zwischen Innenraum, Türschwelle und Dachrand zur Verfügung? Bereits dieser Überblick zeigt häufig, wo zusätzlicher Aufbau oder eine vorherige Sanierung erforderlich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Nutzung gemeinsam bewerten</a:t>
            </a:r>
          </a:p>
        </p:txBody>
      </p:sp>
      <p:sp>
        <p:nvSpPr>
          <p:cNvPr id="3" name="Content Placeholder 2"/>
          <p:cNvSpPr>
            <a:spLocks noGrp="1"/>
          </p:cNvSpPr>
          <p:nvPr>
            <p:ph idx="1"/>
          </p:nvPr>
        </p:nvSpPr>
        <p:spPr/>
        <p:txBody>
          <a:bodyPr/>
          <a:lstStyle/>
          <a:p>
            <a:pPr>
              <a:defRPr sz="1800"/>
            </a:pPr>
            <a:r>
              <a:t>Die Tragfähigkeit bestimmt den Rahmen für die spätere Nutzung. Dabei zählen nicht nur die Materialien des neuen Belags, sondern auch Möbel, Kübel, Personen und saisonale Zusatzlasten. Die vorhandene Konstruktion muss die zusätzlichen Beanspruchungen aufnehmen können; zugleich darf der geplante Aufbau die vorhandenen Höhen nicht überschreiten. Die Prüfung sollte deshalb mit einem realistischen Nutzungskonzept verbunden werden. Wird eine Fläche später als Aufenthalts-, Bewegungs- oder Pflanzenbereich vorgesehen, verändert sich die Beanspruchung gegenüber einer zunächst leeren Dachfläche. Auch die Lage schwerer Elemente ist relevant, weil punktu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Nutzung gemeinsam bewerten</a:t>
            </a:r>
          </a:p>
        </p:txBody>
      </p:sp>
      <p:sp>
        <p:nvSpPr>
          <p:cNvPr id="3" name="Content Placeholder 2"/>
          <p:cNvSpPr>
            <a:spLocks noGrp="1"/>
          </p:cNvSpPr>
          <p:nvPr>
            <p:ph idx="1"/>
          </p:nvPr>
        </p:nvSpPr>
        <p:spPr/>
        <p:txBody>
          <a:bodyPr/>
          <a:lstStyle/>
          <a:p>
            <a:pPr>
              <a:defRPr sz="1800"/>
            </a:pPr>
            <a:r>
              <a:t>elle Lasten anders wirken als gleichmäßig verteilte. Sofern die vorhandenen Angaben nicht ausreichen, ist eine vertiefte statische Prüfung der konkreten Konstruktion der nächste fachliche Schritt. Diese Klärung gehört vor die Festlegung von Belag, Unterkonstruktion und Geländerdetails.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Abdichtung schützen und Wasserwege sichern</a:t>
            </a:r>
          </a:p>
        </p:txBody>
      </p:sp>
      <p:sp>
        <p:nvSpPr>
          <p:cNvPr id="3" name="Content Placeholder 2"/>
          <p:cNvSpPr>
            <a:spLocks noGrp="1"/>
          </p:cNvSpPr>
          <p:nvPr>
            <p:ph idx="1"/>
          </p:nvPr>
        </p:nvSpPr>
        <p:spPr/>
        <p:txBody>
          <a:bodyPr/>
          <a:lstStyle/>
          <a:p>
            <a:pPr>
              <a:defRPr sz="1800"/>
            </a:pPr>
            <a:r>
              <a:t>Die Abdichtung ist die wasserführende Ebene der Dachfläche und sollte nicht durch Stelzlager, Auflager oder Verschraubungen direkt belastet werden. Eine Schutzschicht trennt sie von diesen Bauteilen und hält zugleich Wege für Wasser und spätere Wartung offen. Drainagevlies und lastverteilende Schichten können je nach Nutzung und Aufbau erforderlich sein. Zusammen sorgen die Lagen dafür, dass Wasser abgeführt wird und punktuelle Belastungen nicht unmittelbar auf die Abdichtung wirken. Der sichtbare Belag allein übernimmt diese Aufgabe nicht. Bei der Planung ist außerdem zu klären, ob Abläufe erreichbar bleiben und das Gefälle zur Entwässerung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Abdichtung schützen und Wasserwege sichern</a:t>
            </a:r>
          </a:p>
        </p:txBody>
      </p:sp>
      <p:sp>
        <p:nvSpPr>
          <p:cNvPr id="3" name="Content Placeholder 2"/>
          <p:cNvSpPr>
            <a:spLocks noGrp="1"/>
          </p:cNvSpPr>
          <p:nvPr>
            <p:ph idx="1"/>
          </p:nvPr>
        </p:nvSpPr>
        <p:spPr/>
        <p:txBody>
          <a:bodyPr/>
          <a:lstStyle/>
          <a:p>
            <a:pPr>
              <a:defRPr sz="1800"/>
            </a:pPr>
            <a:r>
              <a:t>ausreicht. Ein zusammenhängendes Gefälle allein genügt nicht, wenn ein Ablauf, eine Schwelle oder ein Anschluss den Wasserweg ungünstig verändert.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Übergänge und Absturzsicherung planen</a:t>
            </a:r>
          </a:p>
        </p:txBody>
      </p:sp>
      <p:sp>
        <p:nvSpPr>
          <p:cNvPr id="3" name="Content Placeholder 2"/>
          <p:cNvSpPr>
            <a:spLocks noGrp="1"/>
          </p:cNvSpPr>
          <p:nvPr>
            <p:ph idx="1"/>
          </p:nvPr>
        </p:nvSpPr>
        <p:spPr/>
        <p:txBody>
          <a:bodyPr/>
          <a:lstStyle/>
          <a:p>
            <a:pPr>
              <a:defRPr sz="1800"/>
            </a:pPr>
            <a:r>
              <a:t>An Türschwellen, aufgehenden Wänden und am Dachrand entscheidet sich, ob die Terrasse dauerhaft trocken bleibt. Diese Übergänge müssen gemeinsam mit Gefälle und Dachabläufen geplant werden. Steht Wasser zu hoch an einer Schwelle an, kann es in die Konstruktion gelangen. Gleichzeitig muss der niedrige Zugang zur Dachterrasse so ausgeführt werden, dass er nicht als ungeregelter Ausstieg genutzt wird. Dafür ist eine abgestimmte Geländerlösung erforderlich. Ihre Befestigung greift in andere Bauteile ein als der Belag und sollte nicht nachträglich improvisiert werden. Auch eine Außentreppe verändert die Anschlussplanung, weil Türschwelle, Aufbauhö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Übergänge und Absturzsicherung planen</a:t>
            </a:r>
          </a:p>
        </p:txBody>
      </p:sp>
      <p:sp>
        <p:nvSpPr>
          <p:cNvPr id="3" name="Content Placeholder 2"/>
          <p:cNvSpPr>
            <a:spLocks noGrp="1"/>
          </p:cNvSpPr>
          <p:nvPr>
            <p:ph idx="1"/>
          </p:nvPr>
        </p:nvSpPr>
        <p:spPr/>
        <p:txBody>
          <a:bodyPr/>
          <a:lstStyle/>
          <a:p>
            <a:pPr>
              <a:defRPr sz="1800"/>
            </a:pPr>
            <a:r>
              <a:t>he, Wasserführung und Absturzsicherung gemeinsam betrachtet werden müssen. Fehlt sie, gehört ihre Einbindung in die Vorbereitung, nicht erst in die Ausführung.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Aufbau verbindlich klären</a:t>
            </a:r>
          </a:p>
        </p:txBody>
      </p:sp>
      <p:sp>
        <p:nvSpPr>
          <p:cNvPr id="3" name="Content Placeholder 2"/>
          <p:cNvSpPr>
            <a:spLocks noGrp="1"/>
          </p:cNvSpPr>
          <p:nvPr>
            <p:ph idx="1"/>
          </p:nvPr>
        </p:nvSpPr>
        <p:spPr/>
        <p:txBody>
          <a:bodyPr/>
          <a:lstStyle/>
          <a:p>
            <a:pPr>
              <a:defRPr sz="1800"/>
            </a:pPr>
            <a:r>
              <a:t>Vor dem ersten Belag sollten folgende Punkte schriftlich und nachvollziehbar geklärt sein: Tragfähigkeit und vorhandene Aufbauhöhen, Zustand der Abdichtung einschließlich Anschlüssen, Lage und Erreichbarkeit der Dachabläufe, Höhe der Türschwelle sowie Befestigungsmöglichkeiten für Geländer und Außentreppe. Ergänzend gehört die Genehmigungs- und Denkmalsituation des Gebäudes in die Prüfung. Das Ergebnis kann sein, dass der gewünschte Aufbau möglich ist, angepasst werden muss oder zusätzlich eine Flachdachsanierung erforderlich ist. Diese frühzeitige Feststellung verhindert teure Änderungen am sichtbaren Belag. Weitere Hintergründe bietet der 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Aufbau verbindlich klären</a:t>
            </a:r>
          </a:p>
        </p:txBody>
      </p:sp>
      <p:sp>
        <p:nvSpPr>
          <p:cNvPr id="3" name="Content Placeholder 2"/>
          <p:cNvSpPr>
            <a:spLocks noGrp="1"/>
          </p:cNvSpPr>
          <p:nvPr>
            <p:ph idx="1"/>
          </p:nvPr>
        </p:nvSpPr>
        <p:spPr/>
        <p:txBody>
          <a:bodyPr/>
          <a:lstStyle/>
          <a:p>
            <a:pPr>
              <a:defRPr sz="1800"/>
            </a:pPr>
            <a:r>
              <a:t>eiterführende Ratgeber zum Dachterrasse-Aufbau unter dem Belag.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Dachterrasse Berlin: Aufbau unter dem Belag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