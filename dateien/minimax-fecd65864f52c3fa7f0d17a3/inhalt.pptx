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berlin.blogspot.com" TargetMode="External"/><Relationship Id="rId3" Type="http://schemas.openxmlformats.org/officeDocument/2006/relationships/hyperlink" Target="https://holzundhaus.github.io/dachwerkberlin/dateien/minimax-fecd65864f52c3fa7f0d17a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dachwerkberlin.de · Erklärende Präsentation</a:t>
            </a:r>
          </a:p>
        </p:txBody>
      </p:sp>
      <p:sp>
        <p:nvSpPr>
          <p:cNvPr id="3" name="Content Placeholder 2"/>
          <p:cNvSpPr>
            <a:spLocks noGrp="1"/>
          </p:cNvSpPr>
          <p:nvPr>
            <p:ph idx="1"/>
          </p:nvPr>
        </p:nvSpPr>
        <p:spPr/>
        <p:txBody>
          <a:bodyPr/>
          <a:lstStyle/>
          <a:p>
            <a:r>
              <a:t>Eine fachgerechte Dachdämmung schützt nicht nur vor Wärmeverlusten, sondern nur wenn sie luftdicht ausgeführt wird, entfaltet sie ihre volle Wirkung. Ohne funktionierende Luftdichtheitsebene kann warme, feuchte Raumluft in die Dämmung eindringen und dort Bauschäden verursachen. Eine Dampfbremse beziehungsweise Luftdichtheitsbahn ist dabei das zentrale Element, das Innenraum und Dämmkonstruktion zuverlässig trennt.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Luftdichtheit für die Dämmung entscheidend ist</a:t>
            </a:r>
          </a:p>
        </p:txBody>
      </p:sp>
      <p:sp>
        <p:nvSpPr>
          <p:cNvPr id="3" name="Content Placeholder 2"/>
          <p:cNvSpPr>
            <a:spLocks noGrp="1"/>
          </p:cNvSpPr>
          <p:nvPr>
            <p:ph idx="1"/>
          </p:nvPr>
        </p:nvSpPr>
        <p:spPr/>
        <p:txBody>
          <a:bodyPr/>
          <a:lstStyle/>
          <a:p>
            <a:pPr>
              <a:defRPr sz="1800"/>
            </a:pPr>
            <a:r>
              <a:t>Wenn durch Fugen und Anschlüsse Luft ungehindert strömt, sinkt die Dämmwirkung deutlich. Die warme Raumluft transportiert Feuchtigkeit in die Konstruktion, die sich bei niedrigen Temperaturen als Tauwasser niederschlägt. Über einen längeren Zeitraum führt das zu geschädigtem Holz, geschwächter Dämmung und im schlimmsten Fall zu Schimmelbildung. Besonders anfällig sind Durchdringungen wie Dachfenster, Anschlüsse an Schornsteine und Übergänge zu Gauben. Eine sorgfältig ausgeführte Luftdichtheitsebene verhindert diesen Transport von Anfang an und sorgt dafür, dass die Dämmung über Jahrzehnte funktioniert.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Dampfbremse oder Dampfsperre – wo liegt der Unterschied?</a:t>
            </a:r>
          </a:p>
        </p:txBody>
      </p:sp>
      <p:sp>
        <p:nvSpPr>
          <p:cNvPr id="3" name="Content Placeholder 2"/>
          <p:cNvSpPr>
            <a:spLocks noGrp="1"/>
          </p:cNvSpPr>
          <p:nvPr>
            <p:ph idx="1"/>
          </p:nvPr>
        </p:nvSpPr>
        <p:spPr/>
        <p:txBody>
          <a:bodyPr/>
          <a:lstStyle/>
          <a:p>
            <a:pPr>
              <a:defRPr sz="1800"/>
            </a:pPr>
            <a:r>
              <a:t>Eine Dampfbremse hat einen definierten sd-Wert, der den Widerstand gegen Wasserdampfdiffusion beschreibt. Sie lässt einen kontrollierten Feuchtigkeitsaustausch zu, was bei diffusionsoffenen Konstruktionen sinnvoll ist. Eine Dampfsperre hingegen sperrt den Feuchtigkeitstransport nahezu vollständig. Welche Variante die richtige Wahl ist, hängt vom gesamten Dachaufbau ab, insbesondere von der Anordnung der Dämmung und der Wahl der Unterdeckbahn. In vielen Berliner Bestandsbauten mit Zwischensparrendämmung hat sich eine Dampfbremse mit mittlerem sd-Wert bewährt. Die genaue Auslegung sollte vor Beginn der Arbeiten mit einem Fachbetrieb abgestimmt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Dampfbremse oder Dampfsperre – wo liegt der Unterschied?</a:t>
            </a:r>
          </a:p>
        </p:txBody>
      </p:sp>
      <p:sp>
        <p:nvSpPr>
          <p:cNvPr id="3" name="Content Placeholder 2"/>
          <p:cNvSpPr>
            <a:spLocks noGrp="1"/>
          </p:cNvSpPr>
          <p:nvPr>
            <p:ph idx="1"/>
          </p:nvPr>
        </p:nvSpPr>
        <p:spPr/>
        <p:txBody>
          <a:bodyPr/>
          <a:lstStyle/>
          <a:p>
            <a:pPr>
              <a:defRPr sz="1800"/>
            </a:pPr>
            <a:r>
              <a:t>werden, da die Bauteilfeuchte im Bestand oft schwer einzuschätzen 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Durchdringungen sorgfältig ausführen</a:t>
            </a:r>
          </a:p>
        </p:txBody>
      </p:sp>
      <p:sp>
        <p:nvSpPr>
          <p:cNvPr id="3" name="Content Placeholder 2"/>
          <p:cNvSpPr>
            <a:spLocks noGrp="1"/>
          </p:cNvSpPr>
          <p:nvPr>
            <p:ph idx="1"/>
          </p:nvPr>
        </p:nvSpPr>
        <p:spPr/>
        <p:txBody>
          <a:bodyPr/>
          <a:lstStyle/>
          <a:p>
            <a:pPr>
              <a:defRPr sz="1800"/>
            </a:pPr>
            <a:r>
              <a:t>Die Luftdichtheit steht und fällt mit den Anschlüssen. Bahnenstöße müssen überlappend verklebt werden, und zwar mit für das Material zugelassenen Klebebändern. Ein häufiger Fehler ist die Verwendung ungeeigneter Klebeprodukte auf staubigen oder leicht feuchten Oberflächen. Vor dem Verkleben sollten die Untergründe gereinigt und trocken sein. An Wandanschlüssen, Dachfenstern und durchgehenden Sparren müssen die Bahnen dicht angeschlossen und mit geeigneten Manschetten oder Dichtbändern abgedichtet werden. Hier lohnt sich der Griff zu Markenprodukten mit nachgewiesener Haftung, denn nachträgliche Korrekturen sind aufwändig und oft nur mit Zerst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Durchdringungen sorgfältig ausführen</a:t>
            </a:r>
          </a:p>
        </p:txBody>
      </p:sp>
      <p:sp>
        <p:nvSpPr>
          <p:cNvPr id="3" name="Content Placeholder 2"/>
          <p:cNvSpPr>
            <a:spLocks noGrp="1"/>
          </p:cNvSpPr>
          <p:nvPr>
            <p:ph idx="1"/>
          </p:nvPr>
        </p:nvSpPr>
        <p:spPr/>
        <p:txBody>
          <a:bodyPr/>
          <a:lstStyle/>
          <a:p>
            <a:pPr>
              <a:defRPr sz="1800"/>
            </a:pPr>
            <a:r>
              <a:t>örung der vorhandenen Schichten möglich.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Qualitätssicherung durch Differenzdruckmessung</a:t>
            </a:r>
          </a:p>
        </p:txBody>
      </p:sp>
      <p:sp>
        <p:nvSpPr>
          <p:cNvPr id="3" name="Content Placeholder 2"/>
          <p:cNvSpPr>
            <a:spLocks noGrp="1"/>
          </p:cNvSpPr>
          <p:nvPr>
            <p:ph idx="1"/>
          </p:nvPr>
        </p:nvSpPr>
        <p:spPr/>
        <p:txBody>
          <a:bodyPr/>
          <a:lstStyle/>
          <a:p>
            <a:pPr>
              <a:defRPr sz="1800"/>
            </a:pPr>
            <a:r>
              <a:t>Nach Fertigstellung der Luftdichtheitsebene empfiehlt sich eine Blower-Door-Messung. Dabei wird ein ventiliertes Gebläse in eine Außentür eingesetzt und ein definierter Unterdruck erzeugt. Gemessen wird, wie viel Luft pro Stunde durch die Gebäudehülle strömt. So lassen sich Leckagen lokalisieren, bevor die Innenverkleidung geschlossen wird. Die Messung ist besonders bei größeren Dachflächen oder bei Gebäuden mit erhöhten Dämmstandards sinnvoll. Für Eigentümer, die eine Förderung für die Dachdämmung beantragen möchten, ist der Nachweis der Luftdichtheit häufig ohnehin vorgeschrieben. Die Kosten für eine Messung liegen in der Regel unter dem, 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Qualitätssicherung durch Differenzdruckmessung</a:t>
            </a:r>
          </a:p>
        </p:txBody>
      </p:sp>
      <p:sp>
        <p:nvSpPr>
          <p:cNvPr id="3" name="Content Placeholder 2"/>
          <p:cNvSpPr>
            <a:spLocks noGrp="1"/>
          </p:cNvSpPr>
          <p:nvPr>
            <p:ph idx="1"/>
          </p:nvPr>
        </p:nvSpPr>
        <p:spPr/>
        <p:txBody>
          <a:bodyPr/>
          <a:lstStyle/>
          <a:p>
            <a:pPr>
              <a:defRPr sz="1800"/>
            </a:pPr>
            <a:r>
              <a:t>as eine einzige Schadensbehebung kosten würde.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dachwerkberlin.de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