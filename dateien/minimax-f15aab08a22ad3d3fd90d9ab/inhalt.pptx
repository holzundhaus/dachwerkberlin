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werkberlin/-/blob/cb798bd32ed4784f1c681245e71879384a089077/_posts/2026-10-17-u-wert-dachdaemmung-berlin-einordnung.md" TargetMode="External"/><Relationship Id="rId3" Type="http://schemas.openxmlformats.org/officeDocument/2006/relationships/hyperlink" Target="https://holzundhaus.github.io/dachwerkberlin/dateien/minimax-f15aab08a22ad3d3fd90d9a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U-Wert an der Dachdämmung: was er leistet – und was er bewusst nicht erfasst · Erklärende Präsentation</a:t>
            </a:r>
          </a:p>
        </p:txBody>
      </p:sp>
      <p:sp>
        <p:nvSpPr>
          <p:cNvPr id="3" name="Content Placeholder 2"/>
          <p:cNvSpPr>
            <a:spLocks noGrp="1"/>
          </p:cNvSpPr>
          <p:nvPr>
            <p:ph idx="1"/>
          </p:nvPr>
        </p:nvSpPr>
        <p:spPr/>
        <p:txBody>
          <a:bodyPr/>
          <a:lstStyle/>
          <a:p>
            <a:r>
              <a:t>Überblick: Der U-Wert ist eine der am häufigsten genannten Kennzahlen bei der Planung einer Dachdämmung in Berlin. Doch was genau sagt er aus – und was unterschlägt er bewusst? Wer die Aussagekraft dieser Größe kennt, trifft fundiertere Entscheidungen und vermeidet Fehleinschätzungen, die sich erst Jahre später zeigen.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Wozu der U-Wert dient und wozu nicht</a:t>
            </a:r>
          </a:p>
        </p:txBody>
      </p:sp>
      <p:sp>
        <p:nvSpPr>
          <p:cNvPr id="3" name="Content Placeholder 2"/>
          <p:cNvSpPr>
            <a:spLocks noGrp="1"/>
          </p:cNvSpPr>
          <p:nvPr>
            <p:ph idx="1"/>
          </p:nvPr>
        </p:nvSpPr>
        <p:spPr/>
        <p:txBody>
          <a:bodyPr/>
          <a:lstStyle/>
          <a:p>
            <a:pPr>
              <a:defRPr sz="1800"/>
            </a:pPr>
            <a:r>
              <a:t>Der U-Wert gibt an, wie viel Wärme pro Quadratmeter und Zeiteinheit durch ein Bauteil strömt. Die Einheit lautet W/(m²·K). Je kleiner die Zahl, desto besser der Wärmeschutz. Für die Dachdämmung in Berlin dient er in erster Linie als Vergleichsgröße: Wer Aufbauten mit unterschiedlichen Dämmstärken oder Materialien gegenüberstellt, kann über den U-Wert erkennen, welcher Vorschlag den niedrigeren Wärmedurchgang erwarten lässt. Was der U-Wert jedoch nicht leistet, ist die Bewertung eines konkreten Dachs. Er ordnet Bauteile ein, bewertet aber weder den Ist-Zustand noch die Ausführungsqualität. Wie Dachzustand, vorhandene Schichten und das tatsächl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Wozu der U-Wert dient und wozu nicht</a:t>
            </a:r>
          </a:p>
        </p:txBody>
      </p:sp>
      <p:sp>
        <p:nvSpPr>
          <p:cNvPr id="3" name="Content Placeholder 2"/>
          <p:cNvSpPr>
            <a:spLocks noGrp="1"/>
          </p:cNvSpPr>
          <p:nvPr>
            <p:ph idx="1"/>
          </p:nvPr>
        </p:nvSpPr>
        <p:spPr/>
        <p:txBody>
          <a:bodyPr/>
          <a:lstStyle/>
          <a:p>
            <a:pPr>
              <a:defRPr sz="1800"/>
            </a:pPr>
            <a:r>
              <a:t>iche Vorhaben zusammenpassen, erfordert eine gesonderte Prüfung vor 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Punkte, die der U-Wert nicht abbildet</a:t>
            </a:r>
          </a:p>
        </p:txBody>
      </p:sp>
      <p:sp>
        <p:nvSpPr>
          <p:cNvPr id="3" name="Content Placeholder 2"/>
          <p:cNvSpPr>
            <a:spLocks noGrp="1"/>
          </p:cNvSpPr>
          <p:nvPr>
            <p:ph idx="1"/>
          </p:nvPr>
        </p:nvSpPr>
        <p:spPr/>
        <p:txBody>
          <a:bodyPr/>
          <a:lstStyle/>
          <a:p>
            <a:pPr>
              <a:defRPr sz="1800"/>
            </a:pPr>
            <a:r>
              <a:t>Eine niedrige U-Wert-Zahl bedeutet nicht automatisch, dass das Dach in der Praxis wenig Wärme verliert. Erstens bleiben Wärmebrücken außen vor: Anschlüsse an Gauben, Dachflächenfenster, Giebelwände oder der Sparrenbereich sind Stellen, an denen der Dämmstoff unterbrochen oder durchdrungen wird. Der U-Wert der Fläche wird dort punktuell geschwächt. Zweitens bleibt das Feuchteverhalten unberücksichtigt. Ob ein Aufbau Tauwasser sicher abführen kann, hängt von Schichtaufbau, Dampfbremse und innerer Luftdichtheit ab – nicht von der U-Wert-Zahl. Drittens erfasst der Wert keine Leckagen. Eine rechnerisch gute Dachdämmung kann über undichte Fugen,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Punkte, die der U-Wert nicht abbildet</a:t>
            </a:r>
          </a:p>
        </p:txBody>
      </p:sp>
      <p:sp>
        <p:nvSpPr>
          <p:cNvPr id="3" name="Content Placeholder 2"/>
          <p:cNvSpPr>
            <a:spLocks noGrp="1"/>
          </p:cNvSpPr>
          <p:nvPr>
            <p:ph idx="1"/>
          </p:nvPr>
        </p:nvSpPr>
        <p:spPr/>
        <p:txBody>
          <a:bodyPr/>
          <a:lstStyle/>
          <a:p>
            <a:pPr>
              <a:defRPr sz="1800"/>
            </a:pPr>
            <a:r>
              <a:t>itungsdurchführungen oder Fensteranschlüsse unkontrolliert Luft ziehen. Dieser Verlust ist bauphysikalisch getrennt zu betrachten.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Wärmebrücken erkennen und einordnen</a:t>
            </a:r>
          </a:p>
        </p:txBody>
      </p:sp>
      <p:sp>
        <p:nvSpPr>
          <p:cNvPr id="3" name="Content Placeholder 2"/>
          <p:cNvSpPr>
            <a:spLocks noGrp="1"/>
          </p:cNvSpPr>
          <p:nvPr>
            <p:ph idx="1"/>
          </p:nvPr>
        </p:nvSpPr>
        <p:spPr/>
        <p:txBody>
          <a:bodyPr/>
          <a:lstStyle/>
          <a:p>
            <a:pPr>
              <a:defRPr sz="1800"/>
            </a:pPr>
            <a:r>
              <a:t>Wärmebrücken entstehen entweder konstruktiv, etwa am Sparren, wo der Dämmstoff unterbrochen ist, oder geometrisch, zum Beispiel am Übergang vom Dach zur Giebelwand. Im U-Wert eines Bauteils tauchen sie rechnerisch nur als pauschaler Abschlag auf, sofern sie überhaupt einbezogen wurden. Wer den U-Wert zur Beratung heranzieht, sollte die Anschlusspunkte im selben Schritt mitdenken. Andernfalls entsteht ein rechnerisch günstiges Bild, das in der Praxis durch punktuelle Verluste geschmälert wird. Gerade bei Berliner Altbauten mit komplexen Dachgeometrien sind Wärmebrücken häufige Schwachstellen, die den theoretischen Wärmeschutz deutlich reduzier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Wärmebrücken erkennen und einordnen</a:t>
            </a:r>
          </a:p>
        </p:txBody>
      </p:sp>
      <p:sp>
        <p:nvSpPr>
          <p:cNvPr id="3" name="Content Placeholder 2"/>
          <p:cNvSpPr>
            <a:spLocks noGrp="1"/>
          </p:cNvSpPr>
          <p:nvPr>
            <p:ph idx="1"/>
          </p:nvPr>
        </p:nvSpPr>
        <p:spPr/>
        <p:txBody>
          <a:bodyPr/>
          <a:lstStyle/>
          <a:p>
            <a:pPr>
              <a:defRPr sz="1800"/>
            </a:pPr>
            <a:r>
              <a: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Luftdichtheit als eigenständige Themen</a:t>
            </a:r>
          </a:p>
        </p:txBody>
      </p:sp>
      <p:sp>
        <p:nvSpPr>
          <p:cNvPr id="3" name="Content Placeholder 2"/>
          <p:cNvSpPr>
            <a:spLocks noGrp="1"/>
          </p:cNvSpPr>
          <p:nvPr>
            <p:ph idx="1"/>
          </p:nvPr>
        </p:nvSpPr>
        <p:spPr/>
        <p:txBody>
          <a:bodyPr/>
          <a:lstStyle/>
          <a:p>
            <a:pPr>
              <a:defRPr sz="1800"/>
            </a:pPr>
            <a:r>
              <a:t>Feuchte in der Dachkonstruktion ist kein U-Wert-Problem, sondern ein eigener Befund. Die Dampfbremse begrenzt den Feuchtetransport und kann Teil der Luftdichtheitsebene sein. Erst die saubere Ausführung von Fugen, Leitungsdurchführungen und Fensteranschlüssen macht die rechnerischen Annahmen wirksam. Typische Anzeichen für Probleme sind feuchte Ecken, Schimmel an Übergängen oder ein muffiger Geruch im Dachraum. Solche Beobachtungen gehören in die Hände eines Fachbetriebs, der den Aufbau prüft und beurteilt. Der U-Wert allein sagt nichts darüber, ob Feuchte in die Konstruktion gelangt ist oder dort über Jahre unbemerkt Schäden verursacht.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Reihenfolge für die Planung</a:t>
            </a:r>
          </a:p>
        </p:txBody>
      </p:sp>
      <p:sp>
        <p:nvSpPr>
          <p:cNvPr id="3" name="Content Placeholder 2"/>
          <p:cNvSpPr>
            <a:spLocks noGrp="1"/>
          </p:cNvSpPr>
          <p:nvPr>
            <p:ph idx="1"/>
          </p:nvPr>
        </p:nvSpPr>
        <p:spPr/>
        <p:txBody>
          <a:bodyPr/>
          <a:lstStyle/>
          <a:p>
            <a:pPr>
              <a:defRPr sz="1800"/>
            </a:pPr>
            <a:r>
              <a:t>Wer den U-Wert sinnvoll nutzen möchte, sollte ihn als eine Zahl unter mehreren verstehen. Ein strukturierter Einstieg beginnt mit der Bestandsaufnahme: Dachfläche, Neigung, vorhandene Schichten, sichtbare Feuchte- oder Holzschäden erfassen. Dann das Ziel klären: Soll der Dachraum beheizt werden oder bleibt die oberste Geschossdecke die thermische Grenze? Daraus ergeben sich Dämmposition und erforderliche Dämmstärke. Im dritten Schritt vergleichen, welche Lösung – Aufsparren- oder Zwischensparrendämmung – passt und welche Anschlüsse mitgeplant werden müssen. Abschließend Feuchte und Luftdichtheit mitführen. Erst durch die korrekte Reihenfolge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Reihenfolge für die Planung</a:t>
            </a:r>
          </a:p>
        </p:txBody>
      </p:sp>
      <p:sp>
        <p:nvSpPr>
          <p:cNvPr id="3" name="Content Placeholder 2"/>
          <p:cNvSpPr>
            <a:spLocks noGrp="1"/>
          </p:cNvSpPr>
          <p:nvPr>
            <p:ph idx="1"/>
          </p:nvPr>
        </p:nvSpPr>
        <p:spPr/>
        <p:txBody>
          <a:bodyPr/>
          <a:lstStyle/>
          <a:p>
            <a:pPr>
              <a:defRPr sz="1800"/>
            </a:pPr>
            <a:r>
              <a:t>von Dampfbremse und dichter Anschlussausführung wird eine niedrige U-Wert-Zahl in der Praxis wirksam.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vom U-Wert bleibt</a:t>
            </a:r>
          </a:p>
        </p:txBody>
      </p:sp>
      <p:sp>
        <p:nvSpPr>
          <p:cNvPr id="3" name="Content Placeholder 2"/>
          <p:cNvSpPr>
            <a:spLocks noGrp="1"/>
          </p:cNvSpPr>
          <p:nvPr>
            <p:ph idx="1"/>
          </p:nvPr>
        </p:nvSpPr>
        <p:spPr/>
        <p:txBody>
          <a:bodyPr/>
          <a:lstStyle/>
          <a:p>
            <a:pPr>
              <a:defRPr sz="1800"/>
            </a:pPr>
            <a:r>
              <a:t>Der U-Wert ist eine klare Vergleichsgröße, aber keine Bewertung des einzelnen Dachs. Erst die Verbindung mit Wärmebrücken, Feuchteverhalten und Luftdichtheit ergibt ein Bild, das zur tatsächlichen Wirkung passt. Wer in Berlin über eine Dachdämmung nachdenkt, gewinnt die belastbarste Aussage, wenn Bestand, Ziel und Anschlusspunkte gemeinsam geprüft werden. Der U-Wert ordnet dieses Bild, ersetzt es aber nicht. Eine Beratung vor Ort, die alle drei Aspekte einbezieht, schafft die Grundlage für eine Entscheidung, die nicht nur auf dem Papier stimmt.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U-Wert an der Dachdämmung: was er leistet – und was er bewusst nicht erfasst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