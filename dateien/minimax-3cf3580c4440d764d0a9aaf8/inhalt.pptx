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wordpress.com/2026/10/17/dachziegel-oder-dachsteine-berliner-steildach/" TargetMode="External"/><Relationship Id="rId3" Type="http://schemas.openxmlformats.org/officeDocument/2006/relationships/hyperlink" Target="https://holzundhaus.github.io/dachwerkberlin/dateien/minimax-3cf3580c4440d764d0a9aaf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Dachziegel oder Dachsteine? Materialwahl für das Berliner Steildach · Erklärende Präsentation</a:t>
            </a:r>
          </a:p>
        </p:txBody>
      </p:sp>
      <p:sp>
        <p:nvSpPr>
          <p:cNvPr id="3" name="Content Placeholder 2"/>
          <p:cNvSpPr>
            <a:spLocks noGrp="1"/>
          </p:cNvSpPr>
          <p:nvPr>
            <p:ph idx="1"/>
          </p:nvPr>
        </p:nvSpPr>
        <p:spPr/>
        <p:txBody>
          <a:bodyPr/>
          <a:lstStyle/>
          <a:p>
            <a:r>
              <a:t>Überblick: Die Wahl des richtigen Deckungsmaterials für ein Steildach in Berlin beeinflusst nicht nur die Optik, sondern auch die Lebensdauer, den Wartungsaufwand und den Schutz des Gebäudes über Jahrzehnte. Wer sich frühzeitig mit den grundlegenden Zusammenhängen vertraut macht, kann fundierte Entscheidungen treffen und unnötige Kosten vermeiden. Die folgenden Abschnitte bieten eine kompakte Orientierung für Eigentümer, die ein Steildach neu eindecken oder überarbeiten möchten.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sich eine Neuplanung lohnt</a:t>
            </a:r>
          </a:p>
        </p:txBody>
      </p:sp>
      <p:sp>
        <p:nvSpPr>
          <p:cNvPr id="3" name="Content Placeholder 2"/>
          <p:cNvSpPr>
            <a:spLocks noGrp="1"/>
          </p:cNvSpPr>
          <p:nvPr>
            <p:ph idx="1"/>
          </p:nvPr>
        </p:nvSpPr>
        <p:spPr/>
        <p:txBody>
          <a:bodyPr/>
          <a:lstStyle/>
          <a:p>
            <a:pPr>
              <a:defRPr sz="1800"/>
            </a:pPr>
            <a:r>
              <a:t>Eine grundlegende Auseinandersetzung mit dem Deckungsmaterial empfiehlt sich vor jedem größeren Steildachprojekt. Wenn die bestehende Deckung das Ende ihrer Lebensdauer erreicht hat, Risse oder Abschalungen zeigt oder die Dämmung den heutigen Anforderungen nicht mehr entspricht, steht eine Neueindeckung an. Dabei lohnt es sich, nicht nur das Material selbst zu betrachten, sondern den gesamten Dachaufbau einschließlich Lattung, Unterdeckung und Anschlüssen zu prüfen. Eine isolierte Betrachtung einzelner Komponenten führt häufig dazu, dass Zusammenhänge übersehen werden, die später zu Problemen führen können. In Berlin kommen dabei auch die lok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sich eine Neuplanung lohnt</a:t>
            </a:r>
          </a:p>
        </p:txBody>
      </p:sp>
      <p:sp>
        <p:nvSpPr>
          <p:cNvPr id="3" name="Content Placeholder 2"/>
          <p:cNvSpPr>
            <a:spLocks noGrp="1"/>
          </p:cNvSpPr>
          <p:nvPr>
            <p:ph idx="1"/>
          </p:nvPr>
        </p:nvSpPr>
        <p:spPr/>
        <p:txBody>
          <a:bodyPr/>
          <a:lstStyle/>
          <a:p>
            <a:pPr>
              <a:defRPr sz="1800"/>
            </a:pPr>
            <a:r>
              <a:t>alen Bauvorschriften und die Beschaffenheit der umgebenden Bebauung ins Spiel, die das Verhalten des Daches bei Wind und Wetter beeinflussen.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von Neigung und Deckungsform</a:t>
            </a:r>
          </a:p>
        </p:txBody>
      </p:sp>
      <p:sp>
        <p:nvSpPr>
          <p:cNvPr id="3" name="Content Placeholder 2"/>
          <p:cNvSpPr>
            <a:spLocks noGrp="1"/>
          </p:cNvSpPr>
          <p:nvPr>
            <p:ph idx="1"/>
          </p:nvPr>
        </p:nvSpPr>
        <p:spPr/>
        <p:txBody>
          <a:bodyPr/>
          <a:lstStyle/>
          <a:p>
            <a:pPr>
              <a:defRPr sz="1800"/>
            </a:pPr>
            <a:r>
              <a:t>Die Dachneigung bestimmt maßgeblich, welche Deckungsformen überhaupt funktionsfähig sind. Flachere Berliner Steildächer stellen andere Anforderungen an die Wasserführung als steilere Flächen. Die Form der Dachziegel oder Dachsteine muss zur Neigung passen, damit Regenwasser sicher abgeleitet wird und keine Feuchtigkeit unter die Deckung gelangt. Gauben, Dachfenster, Kehlen und Ortgänge verändern die Geometrie und erfordern angepasste Anschlüsse. Wer die Deckungsform ohne Berücksichtigung dieser Faktoren wählt, riskiert Undichtigkeiten, die sich erst nach Jahren zeigen. Eine frühzeitige Abstimmung mit einem Fachbetrieb hilft, die passende Komb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von Neigung und Deckungsform</a:t>
            </a:r>
          </a:p>
        </p:txBody>
      </p:sp>
      <p:sp>
        <p:nvSpPr>
          <p:cNvPr id="3" name="Content Placeholder 2"/>
          <p:cNvSpPr>
            <a:spLocks noGrp="1"/>
          </p:cNvSpPr>
          <p:nvPr>
            <p:ph idx="1"/>
          </p:nvPr>
        </p:nvSpPr>
        <p:spPr/>
        <p:txBody>
          <a:bodyPr/>
          <a:lstStyle/>
          <a:p>
            <a:pPr>
              <a:defRPr sz="1800"/>
            </a:pPr>
            <a:r>
              <a:t>ination aus Neigung, Form und Material für das konkrete Objekt zu finden.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Gewicht und Tragkonstruktion</a:t>
            </a:r>
          </a:p>
        </p:txBody>
      </p:sp>
      <p:sp>
        <p:nvSpPr>
          <p:cNvPr id="3" name="Content Placeholder 2"/>
          <p:cNvSpPr>
            <a:spLocks noGrp="1"/>
          </p:cNvSpPr>
          <p:nvPr>
            <p:ph idx="1"/>
          </p:nvPr>
        </p:nvSpPr>
        <p:spPr/>
        <p:txBody>
          <a:bodyPr/>
          <a:lstStyle/>
          <a:p>
            <a:pPr>
              <a:defRPr sz="1800"/>
            </a:pPr>
            <a:r>
              <a:t>Dachziegel aus Ton und Dachsteine aus Beton unterscheiden sich deutlich im Flächengewicht. Tonziegel sind leichter, was bei Gebäuden mit begrenzter Tragreserve den Ausschlag geben kann. Betonsteine bieten höhere Formstabilität und Maßhaltigkeit, bringen aber mehr Eigengewicht auf die Fläche. Der vorhandene Dachstuhl muss dieses Gewicht dauerhaft aufnehmen können. Eine Prüfung der Tragkonstruktion gehört daher vor jeder Materialwahl. Bei älteren Gebäuden in Berlin ist besonders zu beachten, dass die ursprüngliche Konstruktion nicht immer für eine Betondeckung ausgelegt wurde. Ergibt die Prüfung eine begrenzte Tragreserve, sprechen die bauliche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Gewicht und Tragkonstruktion</a:t>
            </a:r>
          </a:p>
        </p:txBody>
      </p:sp>
      <p:sp>
        <p:nvSpPr>
          <p:cNvPr id="3" name="Content Placeholder 2"/>
          <p:cNvSpPr>
            <a:spLocks noGrp="1"/>
          </p:cNvSpPr>
          <p:nvPr>
            <p:ph idx="1"/>
          </p:nvPr>
        </p:nvSpPr>
        <p:spPr/>
        <p:txBody>
          <a:bodyPr/>
          <a:lstStyle/>
          <a:p>
            <a:pPr>
              <a:defRPr sz="1800"/>
            </a:pPr>
            <a:r>
              <a:t>n Voraussetzungen eher für leichtere Deckungsmaterialien.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Lebensdauer</a:t>
            </a:r>
          </a:p>
        </p:txBody>
      </p:sp>
      <p:sp>
        <p:nvSpPr>
          <p:cNvPr id="3" name="Content Placeholder 2"/>
          <p:cNvSpPr>
            <a:spLocks noGrp="1"/>
          </p:cNvSpPr>
          <p:nvPr>
            <p:ph idx="1"/>
          </p:nvPr>
        </p:nvSpPr>
        <p:spPr/>
        <p:txBody>
          <a:bodyPr/>
          <a:lstStyle/>
          <a:p>
            <a:pPr>
              <a:defRPr sz="1800"/>
            </a:pPr>
            <a:r>
              <a:t>Beide Deckungsarten gelten als langlebig, unterscheiden sich aber im Wartungsbedarf. Tonziegel sind witterungsbeständig und farbstabil, können jedoch bei Frosteinwirkung in seltenen Fällen Risse bilden. Betonsteine sind robust und formstabil, können aber im Laufe der Zeit Kreidung oder oberflächliche Verfärbungen zeigen. Regelmäßige Sichtkontrollen, insbesondere nach Winterperioden und Stürmen, gehören bei beiden Materialien zur Pflege. Dabei sollten Traufe, First, Anschlüsse an Schornsteine und Dachfenster besonders beachtet werden. Kleine Schäden an der Deckung können sich schnell zu größeren Problemen entwickeln, wenn Wasser in die Unterko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Lebensdauer</a:t>
            </a:r>
          </a:p>
        </p:txBody>
      </p:sp>
      <p:sp>
        <p:nvSpPr>
          <p:cNvPr id="3" name="Content Placeholder 2"/>
          <p:cNvSpPr>
            <a:spLocks noGrp="1"/>
          </p:cNvSpPr>
          <p:nvPr>
            <p:ph idx="1"/>
          </p:nvPr>
        </p:nvSpPr>
        <p:spPr/>
        <p:txBody>
          <a:bodyPr/>
          <a:lstStyle/>
          <a:p>
            <a:pPr>
              <a:defRPr sz="1800"/>
            </a:pPr>
            <a:r>
              <a:t>nstruktion eindringt.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an einen Fachbetrieb</a:t>
            </a:r>
          </a:p>
        </p:txBody>
      </p:sp>
      <p:sp>
        <p:nvSpPr>
          <p:cNvPr id="3" name="Content Placeholder 2"/>
          <p:cNvSpPr>
            <a:spLocks noGrp="1"/>
          </p:cNvSpPr>
          <p:nvPr>
            <p:ph idx="1"/>
          </p:nvPr>
        </p:nvSpPr>
        <p:spPr/>
        <p:txBody>
          <a:bodyPr/>
          <a:lstStyle/>
          <a:p>
            <a:pPr>
              <a:defRPr sz="1800"/>
            </a:pPr>
            <a:r>
              <a:t>Wer ein Angebot für eine Neueindeckung einholt, sollte grundlegende Angaben bereithalten. Die Dachfläche in Quadratmetern, die geschätzte oder bekannte Dachneigung, die Art der bisherigen Deckung und Hinweise auf vorhandene Schäden bilden eine erste Grundlage. Wichtig sind auch Informationen zur Lattung und Unterdeckung, sofern diese bekannt sind. Geplante Maßnahmen wie eine Dämmung oder der Einbau von Dachfenstern verändern den Leistungsumfang erheblich. Ein seriöser Fachbetrieb wird auf einer Vor-Ort-Prüfung des gesamten Dachaufbaus bestehen, bevor er Material, Form und Befestigung verbindlich festlegt. Eine fundierte Einschätzung ist ohne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an einen Fachbetrieb</a:t>
            </a:r>
          </a:p>
        </p:txBody>
      </p:sp>
      <p:sp>
        <p:nvSpPr>
          <p:cNvPr id="3" name="Content Placeholder 2"/>
          <p:cNvSpPr>
            <a:spLocks noGrp="1"/>
          </p:cNvSpPr>
          <p:nvPr>
            <p:ph idx="1"/>
          </p:nvPr>
        </p:nvSpPr>
        <p:spPr/>
        <p:txBody>
          <a:bodyPr/>
          <a:lstStyle/>
          <a:p>
            <a:pPr>
              <a:defRPr sz="1800"/>
            </a:pPr>
            <a:r>
              <a:t>diese Begehung nicht möglich.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Dachziegel oder Dachsteine? Materialwahl für das Berliner Steildach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