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tumblr.com/dachwerkberlin" TargetMode="External"/><Relationship Id="rId3" Type="http://schemas.openxmlformats.org/officeDocument/2006/relationships/hyperlink" Target="https://holzundhaus.github.io/dachwerkberlin/dateien/minimax-bc494aa96c4d9a634e0b7a4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dachwerkberlin.de · Erklärende Präsentation</a:t>
            </a:r>
          </a:p>
        </p:txBody>
      </p:sp>
      <p:sp>
        <p:nvSpPr>
          <p:cNvPr id="3" name="Content Placeholder 2"/>
          <p:cNvSpPr>
            <a:spLocks noGrp="1"/>
          </p:cNvSpPr>
          <p:nvPr>
            <p:ph idx="1"/>
          </p:nvPr>
        </p:nvSpPr>
        <p:spPr/>
        <p:txBody>
          <a:bodyPr/>
          <a:lstStyle/>
          <a:p>
            <a:r>
              <a:t>Überblick: Bei einer Carport- oder Terrassenüberdachung ist Regenwasser ein-planungsrelevantes Thema, das nicht erst nach der Montage gelöst werden sollte. Flächen, Anschlüsse, Gefälle und die anschließende Ableitung müssen zueinander passen. Der folgende Leitfaden strukturiert die wichtigsten Fragen für eine belastbare Vorausplanung, ohne pauschale Lösungen vorzugeben.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Regenwasserflächen und Wasserwege früh erfassen</a:t>
            </a:r>
          </a:p>
        </p:txBody>
      </p:sp>
      <p:sp>
        <p:nvSpPr>
          <p:cNvPr id="3" name="Content Placeholder 2"/>
          <p:cNvSpPr>
            <a:spLocks noGrp="1"/>
          </p:cNvSpPr>
          <p:nvPr>
            <p:ph idx="1"/>
          </p:nvPr>
        </p:nvSpPr>
        <p:spPr/>
        <p:txBody>
          <a:bodyPr/>
          <a:lstStyle/>
          <a:p>
            <a:pPr>
              <a:defRPr sz="1800"/>
            </a:pPr>
            <a:r>
              <a:t>Zu Beginn sollte festgehalten werden, welche Flächen bei Regen Wasser aufnehmen und wohin dieses Wasser anschließend gelangen soll. Dazu gehören die Dach- oder Überdachungsflächen, Abläufe, Tropfkanten, Anschlüsse an angrenzende Bauteile und die Flächen darunter. Bei einem Carport ist zusätzlich zu klären, ob Wasser von Fahrzeugen, Dachflächen oder von beiden Bereichen in den betrachteten Abschnitt gelangt. Bei einer Terrassenüberdachung ist die Abgrenzung zwischen geschützten und ungeschützten Flächen wichtig. So entsteht ein nachvollziehbarer Wasserweg, an dem sich später sichtbare Feuchte, Ablagerungen oder ungünstige Verbindungen besser 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Regenwasserflächen und Wasserwege früh erfassen</a:t>
            </a:r>
          </a:p>
        </p:txBody>
      </p:sp>
      <p:sp>
        <p:nvSpPr>
          <p:cNvPr id="3" name="Content Placeholder 2"/>
          <p:cNvSpPr>
            <a:spLocks noGrp="1"/>
          </p:cNvSpPr>
          <p:nvPr>
            <p:ph idx="1"/>
          </p:nvPr>
        </p:nvSpPr>
        <p:spPr/>
        <p:txBody>
          <a:bodyPr/>
          <a:lstStyle/>
          <a:p>
            <a:pPr>
              <a:defRPr sz="1800"/>
            </a:pPr>
            <a:r>
              <a:t>uordnen lassen.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Abläufe und Anschlüsse gemeinsam planen</a:t>
            </a:r>
          </a:p>
        </p:txBody>
      </p:sp>
      <p:sp>
        <p:nvSpPr>
          <p:cNvPr id="3" name="Content Placeholder 2"/>
          <p:cNvSpPr>
            <a:spLocks noGrp="1"/>
          </p:cNvSpPr>
          <p:nvPr>
            <p:ph idx="1"/>
          </p:nvPr>
        </p:nvSpPr>
        <p:spPr/>
        <p:txBody>
          <a:bodyPr/>
          <a:lstStyle/>
          <a:p>
            <a:pPr>
              <a:defRPr sz="1800"/>
            </a:pPr>
            <a:r>
              <a:t>Ein Ablauf allein garantiert keine funktionierende Entwässerung. Gefälle, Einlaufstelle, Tropfkante, Rohrführung und vorhandene Anschlüsse müssen zueinander passen. Bei der Planung von Überdachungen ist zu prüfen, ob das Wasser zuverlässig vom Nutzbereich weggeführt wird und wo sichtbare Stöße oder Kanten liegen. An Übergängen zu Wand, Pfosten oder angrenzenden Flächen ist besondere Aufmerksamkeit nötig, weil dort Undurchdringlichkeit und Wasserlauf zusammenwirken. Die Berliner Witterung mit ihren Wechseln aus Temperatur und Feuchte macht außerdem die Abstimmung der Materialien und Details wichtig. Der weiterführende Ratgeber kann bei dieser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Abläufe und Anschlüsse gemeinsam planen</a:t>
            </a:r>
          </a:p>
        </p:txBody>
      </p:sp>
      <p:sp>
        <p:nvSpPr>
          <p:cNvPr id="3" name="Content Placeholder 2"/>
          <p:cNvSpPr>
            <a:spLocks noGrp="1"/>
          </p:cNvSpPr>
          <p:nvPr>
            <p:ph idx="1"/>
          </p:nvPr>
        </p:nvSpPr>
        <p:spPr/>
        <p:txBody>
          <a:bodyPr/>
          <a:lstStyle/>
          <a:p>
            <a:pPr>
              <a:defRPr sz="1800"/>
            </a:pPr>
            <a:r>
              <a:t>technischen Einordnung unterstützen.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und Befestigung nicht getrennt betrachten</a:t>
            </a:r>
          </a:p>
        </p:txBody>
      </p:sp>
      <p:sp>
        <p:nvSpPr>
          <p:cNvPr id="3" name="Content Placeholder 2"/>
          <p:cNvSpPr>
            <a:spLocks noGrp="1"/>
          </p:cNvSpPr>
          <p:nvPr>
            <p:ph idx="1"/>
          </p:nvPr>
        </p:nvSpPr>
        <p:spPr/>
        <p:txBody>
          <a:bodyPr/>
          <a:lstStyle/>
          <a:p>
            <a:pPr>
              <a:defRPr sz="1800"/>
            </a:pPr>
            <a:r>
              <a:t>Material, Befestigung und Untergrund gehören in dieselbe Entscheidung. Unterschiedliche Metalle, Blechformen und Befestigungsarten verändern sich unterschiedlich bei Temperaturschwankungen. Längen, Lage der Stöße und Bewegungsfugen sollten daher bereits bei der Auswahl berücksichtigt werden. Eine Befestigung am freien Rand muss sowohl die vorgesehene Konstruktion als auch Wind am Dachrand berücksichtigen. Lose Halter, offene Nähte oder unzureichend ausgebildete Tropfkanten können später zu typischen Schadensbildern werden. Auch bei Regenwasser- und Überdachungslösungen gilt: Eine sichtbare Abdeckung kann einen Untergrund oder Anschluss nicht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und Befestigung nicht getrennt betrachten</a:t>
            </a:r>
          </a:p>
        </p:txBody>
      </p:sp>
      <p:sp>
        <p:nvSpPr>
          <p:cNvPr id="3" name="Content Placeholder 2"/>
          <p:cNvSpPr>
            <a:spLocks noGrp="1"/>
          </p:cNvSpPr>
          <p:nvPr>
            <p:ph idx="1"/>
          </p:nvPr>
        </p:nvSpPr>
        <p:spPr/>
        <p:txBody>
          <a:bodyPr/>
          <a:lstStyle/>
          <a:p>
            <a:pPr>
              <a:defRPr sz="1800"/>
            </a:pPr>
            <a:r>
              <a:t>ersetzen. Der vorhandene Zustand muss deshalb vor der Detailplanung geprüft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Bestand und Folgearbeiten koordinieren</a:t>
            </a:r>
          </a:p>
        </p:txBody>
      </p:sp>
      <p:sp>
        <p:nvSpPr>
          <p:cNvPr id="3" name="Content Placeholder 2"/>
          <p:cNvSpPr>
            <a:spLocks noGrp="1"/>
          </p:cNvSpPr>
          <p:nvPr>
            <p:ph idx="1"/>
          </p:nvPr>
        </p:nvSpPr>
        <p:spPr/>
        <p:txBody>
          <a:bodyPr/>
          <a:lstStyle/>
          <a:p>
            <a:pPr>
              <a:defRPr sz="1800"/>
            </a:pPr>
            <a:r>
              <a:t>Carport und Terrassenüberdachung stehen selten allein. Weitere Dacharbeiten, Entwässerung, Abdichtung, Pflaster- oder Belagarbeiten können die Anschlusshöhen und das Gefälle beeinflussen. Soll eine bestehende Fläche später saniert werden, empfiehlt es sich, die neue Entwässerungsplanung vorab mit den betroffenen Arbeitsschritten abzustimmen. Hilfreich sind die ungefähren Flächen- und Bauteillängen, Angaben zum vorhandenen Material sowie Fotos aus sicherer Position. Bekannte Undichtigkeiten oder wiederkehrende Feuchte lassen sich so räumlich zuordnen. Für einen vertiefenden Blick auf Regenwasser bei Carport und Terrassenüberdachung bietet sich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Bestand und Folgearbeiten koordinieren</a:t>
            </a:r>
          </a:p>
        </p:txBody>
      </p:sp>
      <p:sp>
        <p:nvSpPr>
          <p:cNvPr id="3" name="Content Placeholder 2"/>
          <p:cNvSpPr>
            <a:spLocks noGrp="1"/>
          </p:cNvSpPr>
          <p:nvPr>
            <p:ph idx="1"/>
          </p:nvPr>
        </p:nvSpPr>
        <p:spPr/>
        <p:txBody>
          <a:bodyPr/>
          <a:lstStyle/>
          <a:p>
            <a:pPr>
              <a:defRPr sz="1800"/>
            </a:pPr>
            <a:r>
              <a:t> der Passender Beitrag an; er sollte die eigene Detailplanung ergänzen, nicht deren technische Prüfung ersetzen.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dachwerkberlin.de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